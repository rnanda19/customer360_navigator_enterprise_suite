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1E2761"/>
                </a:solidFill>
              </a:defRPr>
            </a:pPr>
            <a:r>
              <a:t>Customer360 Navigator Enterprise Suite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Suite-Wide Executive Rollup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Suite KPI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BPs in suite: 8</a:t>
            </a:r>
          </a:p>
          <a:p>
            <a:pPr>
              <a:defRPr sz="1800"/>
            </a:pPr>
            <a:r>
              <a:t>BP1-BP7 with completed Gate 7: 7 of 7</a:t>
            </a:r>
          </a:p>
          <a:p>
            <a:pPr>
              <a:defRPr sz="1800"/>
            </a:pPr>
            <a:r>
              <a:t>Recommended for production: 5</a:t>
            </a:r>
          </a:p>
          <a:p>
            <a:pPr>
              <a:defRPr sz="1800"/>
            </a:pPr>
            <a:r>
              <a:t>Disparate-impact flagged: 1</a:t>
            </a:r>
          </a:p>
          <a:p>
            <a:pPr>
              <a:defRPr sz="1800"/>
            </a:pPr>
            <a:r>
              <a:t>Total pytest passed (suite): 157 (n=2 BPs)</a:t>
            </a:r>
          </a:p>
          <a:p>
            <a:pPr>
              <a:defRPr sz="1800"/>
            </a:pPr>
            <a:r>
              <a:t>Total decision/gold records: 1,048,575 (n=1 BPs)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761"/>
                </a:solidFill>
              </a:defRPr>
            </a:pPr>
            <a:r>
              <a:t>BP1-BP4 Status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r>
                        <a:t>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Champion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Disparate Impact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logistic_regression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RECOMMENDED FOR 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structurally_no_check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RECOMMENDED FOR 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structurally_no_check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CONDITIONAL - GOVERNANCE REVIEW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flagged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BP4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polars_lazy_streaming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RECOMMENDED FOR 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structurally_no_check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761"/>
                </a:solidFill>
              </a:defRPr>
            </a:pPr>
            <a:r>
              <a:t>BP5-BP7 Status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9144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r>
                        <a:t>BP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Champion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Disparate Impact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BP5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 (not in manifest)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Recommended for Decision-Support Use, With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not_applicable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BP6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taxonomy_bucket_match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RECOMMENDED FOR 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not_applicable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BP7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correlation_aware_plus_lr_diagnostic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RECOMMENDED FOR 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not_flagged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2761"/>
                </a:solidFill>
              </a:defRPr>
            </a:pPr>
            <a:r>
              <a:t>Production-Recommendation Tier Distribution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BP8 -- Executive Product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Gate 1: confirmed</a:t>
            </a:r>
          </a:p>
          <a:p>
            <a:pPr>
              <a:defRPr sz="1800"/>
            </a:pPr>
            <a:r>
              <a:t>Gate 2: None KPI categories ready, None Gold tables written</a:t>
            </a:r>
          </a:p>
          <a:p>
            <a:pPr>
              <a:defRPr sz="1800"/>
            </a:pPr>
            <a:r>
              <a:t>Gate 3: real-run confirmed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Suggestions (Rule-Based)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BP1: No blocking action. Re-validate at the next scheduled re-run, consistent with this suite's standing monitoring cadence.</a:t>
            </a:r>
          </a:p>
          <a:p>
            <a:pPr>
              <a:defRPr sz="1200"/>
            </a:pPr>
            <a:r>
              <a:t>BP2: No blocking action. Re-validate at the next scheduled re-run, consistent with this suite's standing monitoring cadence.</a:t>
            </a:r>
          </a:p>
          <a:p>
            <a:pPr>
              <a:defRPr sz="1200"/>
            </a:pPr>
            <a:r>
              <a:t>BP3: Complete the governance review this BP's own Gate 7 rollup calls for before moving to production; re-check after review.</a:t>
            </a:r>
          </a:p>
          <a:p>
            <a:pPr>
              <a:defRPr sz="1200"/>
            </a:pPr>
            <a:r>
              <a:t>BP4: No blocking action. Re-validate at the next scheduled re-run, consistent with this suite's standing monitoring cadence.</a:t>
            </a:r>
          </a:p>
          <a:p>
            <a:pPr>
              <a:defRPr sz="1200"/>
            </a:pPr>
            <a:r>
              <a:t>BP5: Proceed under this BP's own stated qualification -- "Recommended for Decision-Support Use, With Monitoring" -- rather than treating it as an unconditional production-ready result; keep the monitoring it calls for active.</a:t>
            </a:r>
          </a:p>
          <a:p>
            <a:pPr>
              <a:defRPr sz="1200"/>
            </a:pPr>
            <a:r>
              <a:t>BP6: No blocking action. Re-validate at the next scheduled re-run, consistent with this suite's standing monitoring cadence.</a:t>
            </a:r>
          </a:p>
          <a:p>
            <a:pPr>
              <a:defRPr sz="1200"/>
            </a:pPr>
            <a:r>
              <a:t>BP7: No blocking action. Re-validate at the next scheduled re-run, consistent with this suite's standing monitoring cadence.</a:t>
            </a:r>
          </a:p>
          <a:p>
            <a:pPr>
              <a:defRPr sz="1200"/>
            </a:pPr>
            <a:r>
              <a:t>BP8: All 3 of BP8's real gates are confirmed. Remaining step is the human, Power BI Desktop (.pbix) build over these Gold tables (Master Plan Section 19).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suite's final decision layer is a human-built Power BI Desktop (.pbix) file, per Master Plan Section 19 -- out of scope for any notebook to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