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BP2 Customer Friction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Executive Rollup — Customer360 Navigator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Champion model: xgboost  |  Held-out accuracy: 75.58% (real)  |  Generated 2026-09-24</a:t>
            </a:r>
          </a:p>
          <a:p>
            <a:r>
              <a:rPr sz="1700" b="1">
                <a:solidFill>
                  <a:srgbClr val="1B998B"/>
                </a:solidFill>
              </a:rPr>
              <a:t>Recommended for Production: RECOMMENDED FOR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Executive Summary — Real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xgboost</a:t>
            </a:r>
          </a:p>
          <a:p>
            <a:r>
              <a:rPr sz="1100">
                <a:solidFill>
                  <a:srgbClr val="4B5468"/>
                </a:solidFill>
              </a:rPr>
              <a:t>Champion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75.58%</a:t>
            </a:r>
          </a:p>
          <a:p>
            <a:r>
              <a:rPr sz="1100">
                <a:solidFill>
                  <a:srgbClr val="4B5468"/>
                </a:solidFill>
              </a:rPr>
              <a:t>Held-out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0.4559</a:t>
            </a:r>
          </a:p>
          <a:p>
            <a:r>
              <a:rPr sz="1100">
                <a:solidFill>
                  <a:srgbClr val="4B5468"/>
                </a:solidFill>
              </a:rPr>
              <a:t>Held-out F1-macro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55448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0.8857</a:t>
            </a:r>
          </a:p>
          <a:p>
            <a:r>
              <a:rPr sz="1100">
                <a:solidFill>
                  <a:srgbClr val="4B5468"/>
                </a:solidFill>
              </a:rPr>
              <a:t>ROC-AUC (OvR)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152.0:1</a:t>
            </a:r>
          </a:p>
          <a:p>
            <a:r>
              <a:rPr sz="1100">
                <a:solidFill>
                  <a:srgbClr val="4B5468"/>
                </a:solidFill>
              </a:rPr>
              <a:t>Class Imbalance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163,344</a:t>
            </a:r>
          </a:p>
          <a:p>
            <a:r>
              <a:rPr sz="1100">
                <a:solidFill>
                  <a:srgbClr val="4B5468"/>
                </a:solidFill>
              </a:rPr>
              <a:t>Decision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105 passed</a:t>
            </a:r>
          </a:p>
          <a:p>
            <a:r>
              <a:rPr sz="1100">
                <a:solidFill>
                  <a:srgbClr val="4B5468"/>
                </a:solidFill>
              </a:rPr>
              <a:t>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2004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761"/>
                </a:solidFill>
              </a:rPr>
              <a:t>0 near-random / 0 high-var / 0 failed</a:t>
            </a:r>
          </a:p>
          <a:p>
            <a:r>
              <a:rPr sz="1100">
                <a:solidFill>
                  <a:srgbClr val="4B5468"/>
                </a:solidFill>
              </a:rPr>
              <a:t>Gate 3 Open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Gate 1 — Business Understanding &amp; Policy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B5468"/>
                </a:solidFill>
              </a:rPr>
              <a:t>• Primary target: friction_severity_class</a:t>
            </a:r>
          </a:p>
          <a:p>
            <a:r>
              <a:rPr sz="1500">
                <a:solidFill>
                  <a:srgbClr val="4B5468"/>
                </a:solidFill>
              </a:rPr>
              <a:t>• Sentiment-proxy signal — scoped OUT: NOT built as literally named in the Master Plan - no narrative/complaint-text column exists in the real CFPB extract (RAW_DATA_MANIFEST.md F...</a:t>
            </a:r>
          </a:p>
          <a:p>
            <a:r>
              <a:rPr sz="1500">
                <a:solidFill>
                  <a:srgbClr val="4B5468"/>
                </a:solidFill>
              </a:rPr>
              <a:t>• Repeat-contact signal — scoped OUT: NOT built - the real CFPB schema (verified live in Section 4) has no persistent customer/consumer identifier, only `Complaint ID` (identifie...</a:t>
            </a:r>
          </a:p>
          <a:p>
            <a:r>
              <a:rPr sz="1500">
                <a:solidFill>
                  <a:srgbClr val="4B5468"/>
                </a:solidFill>
              </a:rPr>
              <a:t>• Feature variable candidates: Structured CFPB fields only (Product, Sub-product, Issue, Sub-issue, State, Submitted via) plus the Gate-2/BP1 `common_taxonomy_bucket` (con...</a:t>
            </a:r>
          </a:p>
          <a:p>
            <a:r>
              <a:rPr sz="1500">
                <a:solidFill>
                  <a:srgbClr val="4B5468"/>
                </a:solidFill>
              </a:rPr>
              <a:t>• Compliance touchpoint: UDAAP (Unfair, Deceptive, or Abusive Acts or Practices) framing</a:t>
            </a:r>
          </a:p>
          <a:p>
            <a:r>
              <a:rPr sz="1500">
                <a:solidFill>
                  <a:srgbClr val="4B5468"/>
                </a:solidFill>
              </a:rPr>
              <a:t>• Live check — real CFPB row count: 1,048,575</a:t>
            </a:r>
          </a:p>
          <a:p>
            <a:r>
              <a:rPr sz="1500">
                <a:solidFill>
                  <a:srgbClr val="4B5468"/>
                </a:solidFill>
              </a:rPr>
              <a:t>• Live check — Company public response null rows: 570,861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Model Benchmark — Gate 3 (real 5-fold CV)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065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Explainability — Gate 4 (real SHAP)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03920" cy="47956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Per-Severity-Class Performance — Gate 3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4726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Decision Layer — Gate 5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54179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Severity Distribution — Gate 2 (real)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5486400" cy="4696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Confusion Analysis — Gate 3 (real, full 4×4 matrix)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188720"/>
            <a:ext cx="6126480" cy="4612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</a:rP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Close the minority-class recall gap on the two smallest severity classes</a:t>
            </a:r>
          </a:p>
          <a:p>
            <a:r>
              <a:rPr sz="1100">
                <a:solidFill>
                  <a:srgbClr val="4B5468"/>
                </a:solidFill>
              </a:rPr>
              <a:t>Despite reasonably strong real precision, the two lowest-support real severity classes show much weaker real recall on the held-out test set: HIGH_FRICTION (precision 71.6%, recall 12.1%, support 645); LOW_FRICTION (precision 50.5%, recall 10.3%, support 2,085). With a real 152:1 class-imbalance ratio (majority/minority), the champion under-predicts these classes far more than the headline 75.6% accuracy suggests. Target: Target: real recall above 30% for both LOW_FRICTION and HIGH_FRICTION at the next Gate 3 re-benchmark (e.g. via class weighting adjustments, threshold tuning, or a resampling strategy), without materially reducing macro-F1 on the majority classes.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Increase SHAP sample size for more stable global explanations</a:t>
            </a:r>
          </a:p>
          <a:p>
            <a:r>
              <a:rPr sz="1100">
                <a:solidFill>
                  <a:srgbClr val="4B5468"/>
                </a:solidFill>
              </a:rPr>
              <a:t>Gate 4 and Gate 5 independently computed SHAP importance from two different 150-row samples of real held-out data, and only 2/10 top terms overlapped — lower than BP1's equivalent 4/10 overlap, consistent with a structured-feature space having many more near-tied low-signal one-hot columns than BP1's TF-IDF vocabulary. Target: Target: overlap of 6/10 or higher at a larger, fixed sample size (re-run both gates with an increased SHAP_SAMPLE_SIZE and compare).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Run the deferred Company public response leakage/predictive-value ablation</a:t>
            </a:r>
          </a:p>
          <a:p>
            <a:r>
              <a:rPr sz="1100">
                <a:solidFill>
                  <a:srgbClr val="4B5468"/>
                </a:solidFill>
              </a:rPr>
              <a:t>`Company public response` (~54% null, real, live-checked at Gate 1) was deliberately excluded from Gate 3's feature set as an open item, never tested for leakage against the target or for genuine predictive value. Target: Target: a documented ablation run (with vs. without the field) reporting the real macro-F1 delta and a leakage-risk verdict, before it is ever added to the production feature set.</a:t>
            </a:r>
          </a:p>
          <a:p>
            <a:r>
              <a:rPr sz="600"/>
              <a:t> </a:t>
            </a:r>
          </a:p>
          <a:p>
            <a:r>
              <a:rPr sz="1500" b="1">
                <a:solidFill>
                  <a:srgbClr val="1E2761"/>
                </a:solidFill>
              </a:rPr>
              <a:t>Expand grounded reason-code coverage beyond the current SHAP sample bound</a:t>
            </a:r>
          </a:p>
          <a:p>
            <a:r>
              <a:rPr sz="1100">
                <a:solidFill>
                  <a:srgbClr val="4B5468"/>
                </a:solidFill>
              </a:rPr>
              <a:t>Only 150 of 163,344 real decision records (0.09%) currently carry a grounded per-instance reason code, bounded by the 150-row SHAP sample size for laptop safety — a much thinner relative real coverage than BP1's 150/3,080 (4.9%) on the same sample-size bound, simply because BP2's real held-out test set (163,344 rows) is ~53x larger. Target: Target: 100% reason-code coverage once compute budget allows removing the sample bound, or a documented, deliberate sampling policy (e.g. stratified by severity class) if full coverage is not pursued.</a:t>
            </a:r>
          </a:p>
          <a:p>
            <a:r>
              <a:rPr sz="6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Gate 6 — Governance &amp; Known Limitations (real)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pytest suite: 105 passed / 0 failed</a:t>
            </a:r>
          </a:p>
          <a:p>
            <a:r>
              <a:rPr sz="1500">
                <a:solidFill>
                  <a:srgbClr val="FFFFFF"/>
                </a:solidFill>
              </a:rPr>
              <a:t>• Notebook syntax audit: 19/19 passed</a:t>
            </a:r>
          </a:p>
          <a:p>
            <a:r>
              <a:rPr sz="1500">
                <a:solidFill>
                  <a:srgbClr val="FFFFFF"/>
                </a:solidFill>
              </a:rPr>
              <a:t>• Open item: 0 near-random + 0 high-variance + 0 failed Gate 3 candidate(s)</a:t>
            </a:r>
          </a:p>
          <a:p>
            <a:r>
              <a:rPr sz="1500">
                <a:solidFill>
                  <a:srgbClr val="FFFFFF"/>
                </a:solidFill>
              </a:rPr>
              <a:t>• Real failure detail: none</a:t>
            </a:r>
          </a:p>
          <a:p>
            <a:r>
              <a:rPr sz="1500">
                <a:solidFill>
                  <a:srgbClr val="FFFFFF"/>
                </a:solidFill>
              </a:rPr>
              <a:t>• Model card: reports\bp2_customer_friction_classification\MODEL_CARD.md</a:t>
            </a:r>
          </a:p>
          <a:p>
            <a:r>
              <a:rPr sz="1500">
                <a:solidFill>
                  <a:srgbClr val="FFFFFF"/>
                </a:solidFill>
              </a:rPr>
              <a:t>• Changelog: reports\bp2_customer_friction_classification\CHANGELOG.md</a:t>
            </a:r>
          </a:p>
          <a:p>
            <a:r>
              <a:rPr sz="1500">
                <a:solidFill>
                  <a:srgbClr val="FFFFFF"/>
                </a:solidFill>
              </a:rPr>
              <a:t>• Gate 3 candidates evaluated: logistic_regression, random_forest, hist_gradient_boosting, xgboost, lightgbm</a:t>
            </a:r>
          </a:p>
          <a:p>
            <a:r>
              <a:rPr sz="1500">
                <a:solidFill>
                  <a:srgbClr val="FFFFFF"/>
                </a:solidFill>
              </a:rPr>
              <a:t>• BP2 governance gates complete: 6/6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Recommended for Production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RECOMMENDED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• All 6 BP2 gates are real-run confirmed and every structural integrity check passed (pytest 105 passed / 0 failed, notebook syntax audit all passed, 0 Gate 3 failed candidates — CatBoost was removed from the real Gate 3 candidate set entirely, not left as a failed candidate). Tier 2 (CONDITIONAL - GOVERNANCE REVIEW REQUIRED) is structurally unreachable for BP2: this BP's real Gate 1-6 artifacts carry no ECOA/Reg B disparate-impact check (introduced starting with BP3), so BP2 cannot ever be flagged into Tier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