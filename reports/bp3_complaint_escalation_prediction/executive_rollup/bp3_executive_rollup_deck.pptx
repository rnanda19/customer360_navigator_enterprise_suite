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BP3 Complaint Escalation / Intervention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Executive Rollup — Customer360 Navigator Enterprise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Champion model: xgboost  |  Held-out PR-AUC: 0.3496 (real)  |  Generated 2026-09-23</a:t>
            </a:r>
          </a:p>
          <a:p>
            <a:r>
              <a:rPr sz="1700" b="1">
                <a:solidFill>
                  <a:srgbClr val="E8A33D"/>
                </a:solidFill>
              </a:rPr>
              <a:t>Recommended for Production: CONDITIONAL - GOVERNANCE REVIEW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Executive Summary — Real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xgboost</a:t>
            </a:r>
          </a:p>
          <a:p>
            <a:r>
              <a:rPr sz="1100">
                <a:solidFill>
                  <a:srgbClr val="4B5468"/>
                </a:solidFill>
              </a:rPr>
              <a:t>Champion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0.3496</a:t>
            </a:r>
          </a:p>
          <a:p>
            <a:r>
              <a:rPr sz="1100">
                <a:solidFill>
                  <a:srgbClr val="4B5468"/>
                </a:solidFill>
              </a:rPr>
              <a:t>Held-out PR-AUC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94.24%</a:t>
            </a:r>
          </a:p>
          <a:p>
            <a:r>
              <a:rPr sz="1100">
                <a:solidFill>
                  <a:srgbClr val="4B5468"/>
                </a:solidFill>
              </a:rPr>
              <a:t>Held-out Recall @0.5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15.10%</a:t>
            </a:r>
          </a:p>
          <a:p>
            <a:r>
              <a:rPr sz="1100">
                <a:solidFill>
                  <a:srgbClr val="4B5468"/>
                </a:solidFill>
              </a:rPr>
              <a:t>Held-out Precision @0.5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1.29%</a:t>
            </a:r>
          </a:p>
          <a:p>
            <a:r>
              <a:rPr sz="1100">
                <a:solidFill>
                  <a:srgbClr val="4B5468"/>
                </a:solidFill>
              </a:rPr>
              <a:t>Positive-class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0.139 (FLAGGED)</a:t>
            </a:r>
          </a:p>
          <a:p>
            <a:r>
              <a:rPr sz="1100">
                <a:solidFill>
                  <a:srgbClr val="4B5468"/>
                </a:solidFill>
              </a:rPr>
              <a:t>Disparate-impact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163,091</a:t>
            </a:r>
          </a:p>
          <a:p>
            <a:r>
              <a:rPr sz="1100">
                <a:solidFill>
                  <a:srgbClr val="4B5468"/>
                </a:solidFill>
              </a:rPr>
              <a:t>Decision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761"/>
                </a:solidFill>
              </a:rPr>
              <a:t>189 passed</a:t>
            </a:r>
          </a:p>
          <a:p>
            <a:r>
              <a:rPr sz="1100">
                <a:solidFill>
                  <a:srgbClr val="4B5468"/>
                </a:solidFill>
              </a:rPr>
              <a:t>pytest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Gate 1 — Business Understanding &amp; Policy (real)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B5468"/>
                </a:solidFill>
              </a:rPr>
              <a:t>• Primary target: intervention_required</a:t>
            </a:r>
          </a:p>
          <a:p>
            <a:r>
              <a:rPr sz="1500">
                <a:solidFill>
                  <a:srgbClr val="4B5468"/>
                </a:solidFill>
              </a:rPr>
              <a:t>• Real positive-class ratio of trainable rows: 1.29%</a:t>
            </a:r>
          </a:p>
          <a:p>
            <a:r>
              <a:rPr sz="1500">
                <a:solidFill>
                  <a:srgbClr val="4B5468"/>
                </a:solidFill>
              </a:rPr>
              <a:t>• Feature variable candidates: Structured CFPB fields only: Product, Sub-product, Issue, Sub-issue, State, Submitted via, Company (frequency-encoded, HYPER-reusing BP2's o...</a:t>
            </a:r>
          </a:p>
          <a:p>
            <a:r>
              <a:rPr sz="1500">
                <a:solidFill>
                  <a:srgbClr val="4B5468"/>
                </a:solidFill>
              </a:rPr>
              <a:t>• Compliance touchpoint: ECOA / Regulation B - Fair Lending &amp; Adverse Action (Master Plan Section 9; BP3 is one of the four BPs this section explicitly maps to ECOA/Reg B)</a:t>
            </a:r>
          </a:p>
          <a:p>
            <a:r>
              <a:rPr sz="1500">
                <a:solidFill>
                  <a:srgbClr val="4B5468"/>
                </a:solidFill>
              </a:rPr>
              <a:t>• Live check — real CFPB row count: 1,048,575</a:t>
            </a:r>
          </a:p>
          <a:p>
            <a:r>
              <a:rPr sz="1500">
                <a:solidFill>
                  <a:srgbClr val="4B5468"/>
                </a:solidFill>
              </a:rPr>
              <a:t>• Real trainable / excluded rows: 815,453 / 233,122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486400" cy="29701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Model Benchmark — Gate 3 (real 5-fold CV, PR-AUC-selected)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9784080" cy="50400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Explainability — Gate 4 (real SHAP)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03920" cy="44125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Per-Class Performance — Gate 3 (real, both binary classes)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8503920" cy="3566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Confusion Analysis — Gate 3 (real, full 2×2 matrix)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188720"/>
            <a:ext cx="4663440" cy="30467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Decision Layer — Gate 5 (real)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9784080" cy="5408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Disparate-Impact Check — ECOA/Reg B (real, FLAGGED)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88720"/>
            <a:ext cx="6675120" cy="29591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Adverse-impact ratio 0.139 — lowest real selection rate: NO_TAG (0.0684); highest: Older American (0.492).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SMART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2761"/>
                </a:solidFill>
              </a:rPr>
              <a:t>Root-cause the 2 real near-zero-recall Gate 3 candidates</a:t>
            </a:r>
          </a:p>
          <a:p>
            <a:r>
              <a:rPr sz="1050">
                <a:solidFill>
                  <a:srgbClr val="4B5468"/>
                </a:solidFill>
              </a:rPr>
              <a:t>Despite passing PR-AUC and ROC-AUC, 2 of the 5 real Gate 3 candidates show near-zero real recall at the default 0.5 threshold: `logistic_regression` (recall 0.0000, PR-AUC 0.0425, ROC-AUC 0.8620) and `hist_gradient_boost... Target: Target: a documented root cause for both candidates' real threshold/recall behavior, or a documented decision that PR-AU...</a:t>
            </a:r>
          </a:p>
          <a:p>
            <a:r>
              <a:rPr sz="500"/>
              <a:t> </a:t>
            </a:r>
          </a:p>
          <a:p>
            <a:r>
              <a:rPr sz="1400" b="1">
                <a:solidFill>
                  <a:srgbClr val="1E2761"/>
                </a:solidFill>
              </a:rPr>
              <a:t>Governance sign-off required on the real FLAGGED disparate-impact finding</a:t>
            </a:r>
          </a:p>
          <a:p>
            <a:r>
              <a:rPr sz="1050">
                <a:solidFill>
                  <a:srgbClr val="4B5468"/>
                </a:solidFill>
              </a:rPr>
              <a:t>The real, independently-recomputed disparate-impact ratio on the `Tags` field is 0.139 (Gate 4) / 0.139 (Gate 5 recompute, diff=2.4e-05) — below the four-fifths-rule convention threshold of 0.8. Notably in the opposite d... Target: Target: a documented human governance review of this real finding (per Master Plan Section 9's ECOA/Reg B mapping) befor...</a:t>
            </a:r>
          </a:p>
          <a:p>
            <a:r>
              <a:rPr sz="500"/>
              <a:t> </a:t>
            </a:r>
          </a:p>
          <a:p>
            <a:r>
              <a:rPr sz="1400" b="1">
                <a:solidFill>
                  <a:srgbClr val="1E2761"/>
                </a:solidFill>
              </a:rPr>
              <a:t>Increase SHAP sample size — real overlap is unusually low</a:t>
            </a:r>
          </a:p>
          <a:p>
            <a:r>
              <a:rPr sz="1050">
                <a:solidFill>
                  <a:srgbClr val="4B5468"/>
                </a:solidFill>
              </a:rPr>
              <a:t>Gate 4 and Gate 5 independently computed SHAP importance from two different 150-row samples of real held-out data, and only 1/10 top terms overlapped (`Company_freq`) — markedly lower than BP2's equivalent 4/10 overlap o... Target: Target: overlap of 5/10 or higher at a larger, fixed sample size (re-run both gates with an increased SHAP_SAMPLE_SIZE a...</a:t>
            </a:r>
          </a:p>
          <a:p>
            <a:r>
              <a:rPr sz="500"/>
              <a:t> </a:t>
            </a:r>
          </a:p>
          <a:p>
            <a:r>
              <a:rPr sz="1400" b="1">
                <a:solidFill>
                  <a:srgbClr val="1E2761"/>
                </a:solidFill>
              </a:rPr>
              <a:t>Decide the real production operating threshold — 0.5 vs. Gate 4's F1-maximizing 0.9</a:t>
            </a:r>
          </a:p>
          <a:p>
            <a:r>
              <a:rPr sz="1050">
                <a:solidFill>
                  <a:srgbClr val="4B5468"/>
                </a:solidFill>
              </a:rPr>
              <a:t>At the default 0.5 threshold, the real held-out recall is 94.24% but real precision is only 15.10% — roughly 85 real false positives for every 15 true positives flagged. Gate 4's own 9-point threshold grid found real F1 ... Target: Target: a documented decision on the real production operating threshold, grounded in the real operational cost of a fal...</a:t>
            </a:r>
          </a:p>
          <a:p>
            <a:r>
              <a:rPr sz="500"/>
              <a:t> </a:t>
            </a:r>
          </a:p>
          <a:p>
            <a:r>
              <a:rPr sz="1400" b="1">
                <a:solidFill>
                  <a:srgbClr val="1E2761"/>
                </a:solidFill>
              </a:rPr>
              <a:t>Expand grounded reason-code coverage beyond the current SHAP sample bound</a:t>
            </a:r>
          </a:p>
          <a:p>
            <a:r>
              <a:rPr sz="1050">
                <a:solidFill>
                  <a:srgbClr val="4B5468"/>
                </a:solidFill>
              </a:rPr>
              <a:t>Only 150 of 163,091 real decision records (0.092%) currently carry a grounded per-instance reason code, bounded by the 150-row SHAP sample size for laptop safety — a much thinner relative real coverage than BP2's, simply... Target: Target: 100% reason-code coverage once compute budget allows removing the sample bound, or a documented, deliberate samp...</a:t>
            </a:r>
          </a:p>
          <a:p>
            <a:r>
              <a:rPr sz="50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Gate 6 — Governance &amp; Known Limitations (real)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pytest suite: 189 passed / 0 failed</a:t>
            </a:r>
          </a:p>
          <a:p>
            <a:r>
              <a:rPr sz="1500">
                <a:solidFill>
                  <a:srgbClr val="FFFFFF"/>
                </a:solidFill>
              </a:rPr>
              <a:t>• Notebook syntax audit: 27/27 passed</a:t>
            </a:r>
          </a:p>
          <a:p>
            <a:r>
              <a:rPr sz="1500">
                <a:solidFill>
                  <a:srgbClr val="FFFFFF"/>
                </a:solidFill>
              </a:rPr>
              <a:t>• Open item: 0 near-random-PR-AUC + 2 near-zero-recall + 0 failed Gate 3 candidate(s)</a:t>
            </a:r>
          </a:p>
          <a:p>
            <a:r>
              <a:rPr sz="1500">
                <a:solidFill>
                  <a:srgbClr val="FFFFFF"/>
                </a:solidFill>
              </a:rPr>
              <a:t>• Disparate-impact ratio carried forward: 0.139 (FLAGGED)</a:t>
            </a:r>
          </a:p>
          <a:p>
            <a:r>
              <a:rPr sz="1500">
                <a:solidFill>
                  <a:srgbClr val="FFFFFF"/>
                </a:solidFill>
              </a:rPr>
              <a:t>• Model card: reports\bp3_complaint_escalation_prediction\MODEL_CARD.md</a:t>
            </a:r>
          </a:p>
          <a:p>
            <a:r>
              <a:rPr sz="1500">
                <a:solidFill>
                  <a:srgbClr val="FFFFFF"/>
                </a:solidFill>
              </a:rPr>
              <a:t>• Changelog: reports\bp3_complaint_escalation_prediction\CHANGELOG.md</a:t>
            </a:r>
          </a:p>
          <a:p>
            <a:r>
              <a:rPr sz="1500">
                <a:solidFill>
                  <a:srgbClr val="FFFFFF"/>
                </a:solidFill>
              </a:rPr>
              <a:t>• Gate 3 candidates evaluated: logistic_regression, random_forest, hist_gradient_boosting, xgboost, lightgbm</a:t>
            </a:r>
          </a:p>
          <a:p>
            <a:r>
              <a:rPr sz="1500">
                <a:solidFill>
                  <a:srgbClr val="FFFFFF"/>
                </a:solidFill>
              </a:rPr>
              <a:t>• BP3 governance gates complete: 6/6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Recommended for Production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CONDITIONAL - GOVERNANCE REVIEW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• All 6 BP3 gates are real-run confirmed and every structural integrity check passed (pytest 189 passed / 0 failed, notebook syntax audit all passed, 0 Gate 3 failed candidates). However, the real, independently-recomputed disparate-impact ratio on the `Tags` field is 0.139 — below the four-fifths-rule convention threshold of 0.8. This is a monitoring signal for a human reviewer, not a legal determination of ECOA/Reg B compliance, and is never treated as a hard block — but production use requires explicit governance sign-off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