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BP1 Customer Intent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Executive Rollup — Customer360 Navigator Enterprise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Champion model: logistic_regression  |  Held-out accuracy: 82.24% (real)  |  Generated 2026-09-24</a:t>
            </a:r>
          </a:p>
          <a:p>
            <a:r>
              <a:rPr sz="1700" b="1">
                <a:solidFill>
                  <a:srgbClr val="1B998B"/>
                </a:solidFill>
              </a:rPr>
              <a:t>Recommended for Production: RECOMMENDED FOR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Executive Summary — Real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logistic_regression</a:t>
            </a:r>
          </a:p>
          <a:p>
            <a:r>
              <a:rPr sz="1100">
                <a:solidFill>
                  <a:srgbClr val="4B5468"/>
                </a:solidFill>
              </a:rPr>
              <a:t>Champion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612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82.24%</a:t>
            </a:r>
          </a:p>
          <a:p>
            <a:r>
              <a:rPr sz="1100">
                <a:solidFill>
                  <a:srgbClr val="4B5468"/>
                </a:solidFill>
              </a:rPr>
              <a:t>Held-out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0.8221</a:t>
            </a:r>
          </a:p>
          <a:p>
            <a:r>
              <a:rPr sz="1100">
                <a:solidFill>
                  <a:srgbClr val="4B5468"/>
                </a:solidFill>
              </a:rPr>
              <a:t>Held-out F1-macro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0.9933</a:t>
            </a:r>
          </a:p>
          <a:p>
            <a:r>
              <a:rPr sz="1100">
                <a:solidFill>
                  <a:srgbClr val="4B5468"/>
                </a:solidFill>
              </a:rPr>
              <a:t>ROC-AUC (OvR)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3,080</a:t>
            </a:r>
          </a:p>
          <a:p>
            <a:r>
              <a:rPr sz="1100">
                <a:solidFill>
                  <a:srgbClr val="4B5468"/>
                </a:solidFill>
              </a:rPr>
              <a:t>Decision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4.9%</a:t>
            </a:r>
          </a:p>
          <a:p>
            <a:r>
              <a:rPr sz="1100">
                <a:solidFill>
                  <a:srgbClr val="4B5468"/>
                </a:solidFill>
              </a:rPr>
              <a:t>Reason-code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52 passed</a:t>
            </a:r>
          </a:p>
          <a:p>
            <a:r>
              <a:rPr sz="1100">
                <a:solidFill>
                  <a:srgbClr val="4B5468"/>
                </a:solidFill>
              </a:rPr>
              <a:t>pytest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1 near-random / 2 high-var</a:t>
            </a:r>
          </a:p>
          <a:p>
            <a:r>
              <a:rPr sz="1100">
                <a:solidFill>
                  <a:srgbClr val="4B5468"/>
                </a:solidFill>
              </a:rPr>
              <a:t>Gate 3 Open Anomalies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Gate 1 — Business Understanding &amp; Policy (real)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B5468"/>
                </a:solidFill>
              </a:rPr>
              <a:t>• Primary target: category (BANKING77's real 77-class fine-grained customer intent label, attached to the `text` field it was collected with.)</a:t>
            </a:r>
          </a:p>
          <a:p>
            <a:r>
              <a:rPr sz="1500">
                <a:solidFill>
                  <a:srgbClr val="4B5468"/>
                </a:solidFill>
              </a:rPr>
              <a:t>• Secondary target: common_taxonomy_bucket (The 9-bucket common taxonomy from Gate 2 (configs/taxonomy_mapping.yaml), used only for coarser reporting and for cross-dataset comparability with CFPB's bucket-tagged rows in BP8 - never trained on directly in place of the real 77-class label.)</a:t>
            </a:r>
          </a:p>
          <a:p>
            <a:r>
              <a:rPr sz="1500">
                <a:solidFill>
                  <a:srgbClr val="4B5468"/>
                </a:solidFill>
              </a:rPr>
              <a:t>• Feature variable: text | Split: BANKING77's own provided train/test split (banking77_train.csv / banking77_test.csv) - used as-is, never re-randomized or re-merged.</a:t>
            </a:r>
          </a:p>
          <a:p>
            <a:r>
              <a:rPr sz="1500">
                <a:solidFill>
                  <a:srgbClr val="4B5468"/>
                </a:solidFill>
              </a:rPr>
              <a:t>• Compliance touchpoint: Data-minimization &amp; purpose-limitation statement (GLBA/GDPR-aligned)</a:t>
            </a:r>
          </a:p>
          <a:p>
            <a:r>
              <a:rPr sz="1500">
                <a:solidFill>
                  <a:srgbClr val="4B5468"/>
                </a:solidFill>
              </a:rPr>
              <a:t>• Live check — shared CFPB/BANKING77 columns: 0</a:t>
            </a:r>
          </a:p>
          <a:p>
            <a:r>
              <a:rPr sz="1500">
                <a:solidFill>
                  <a:srgbClr val="4B5468"/>
                </a:solidFill>
              </a:rPr>
              <a:t>• Live check — train/test exact-text overlap rows: 0</a:t>
            </a:r>
          </a:p>
          <a:p>
            <a:r>
              <a:rPr sz="1500">
                <a:solidFill>
                  <a:srgbClr val="4B5468"/>
                </a:solidFill>
              </a:rPr>
              <a:t>• 77-class imbalance ratio: 5.34x (min 35 / max 187)</a:t>
            </a:r>
          </a:p>
          <a:p>
            <a:r>
              <a:rPr sz="1500">
                <a:solidFill>
                  <a:srgbClr val="4B5468"/>
                </a:solidFill>
              </a:rPr>
              <a:t>• 9-bucket imbalance ratio: 3.85x (min 460 / max 1770)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Model Benchmark — Gate 3 (real 5-fold CV)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71600"/>
            <a:ext cx="9784080" cy="5065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Explainability — Gate 4 (real SHAP)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503920" cy="50463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Decision Layer — Gate 5 (real)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71600"/>
            <a:ext cx="9784080" cy="54130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Taxonomy Coverage — Gate 2 (real)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5486400" cy="2481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Confusion Analysis — Gate 3 (real)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188720"/>
            <a:ext cx="7955279" cy="71628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SMART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2761"/>
                </a:solidFill>
              </a:rPr>
              <a:t>Root-cause hist_gradient_boosting's near-random CV score</a:t>
            </a:r>
          </a:p>
          <a:p>
            <a:r>
              <a:rPr sz="1100">
                <a:solidFill>
                  <a:srgbClr val="4B5468"/>
                </a:solidFill>
              </a:rPr>
              <a:t>hist_gradient_boosting scored a real CV mean F1-macro of 0.0137 (near the 77-class random baseline of ~0.0130) while consuming 1731s of real CV wall-clock time - by far the most expensive candidate for the worst result. Target: Target: either a mean F1-macro above the weakest currently-passing candidate (0.440) after the fix, or a documented decision to drop this candidate from future benchmarks.</a:t>
            </a:r>
          </a:p>
          <a:p>
            <a:r>
              <a:rPr sz="600"/>
              <a:t> </a:t>
            </a:r>
          </a:p>
          <a:p>
            <a:r>
              <a:rPr sz="1500" b="1">
                <a:solidFill>
                  <a:srgbClr val="1E2761"/>
                </a:solidFill>
              </a:rPr>
              <a:t>Stabilize lightgbm's fold-to-fold variance</a:t>
            </a:r>
          </a:p>
          <a:p>
            <a:r>
              <a:rPr sz="1100">
                <a:solidFill>
                  <a:srgbClr val="4B5468"/>
                </a:solidFill>
              </a:rPr>
              <a:t>lightgbm's real CV fold std (0.3554) is 0.8x its mean (0.4403) - too unstable to trust for production without investigation. Target: Target: std/mean ratio below 0.3 after tuning (hyperparameters, class weighting, or a fixed early-stopping schedule).</a:t>
            </a:r>
          </a:p>
          <a:p>
            <a:r>
              <a:rPr sz="600"/>
              <a:t> </a:t>
            </a:r>
          </a:p>
          <a:p>
            <a:r>
              <a:rPr sz="1500" b="1">
                <a:solidFill>
                  <a:srgbClr val="1E2761"/>
                </a:solidFill>
              </a:rPr>
              <a:t>Increase SHAP sample size for more stable global explanations</a:t>
            </a:r>
          </a:p>
          <a:p>
            <a:r>
              <a:rPr sz="1100">
                <a:solidFill>
                  <a:srgbClr val="4B5468"/>
                </a:solidFill>
              </a:rPr>
              <a:t>Gate 4 and Gate 5 independently computed SHAP importance from two different 150-row samples of real held-out data, and only 4/10 top terms overlapped. Target: Target: overlap of 7/10 or higher at a larger, fixed sample size (re-run both gates with an increased SHAP_SAMPLE_SIZE and compare).</a:t>
            </a:r>
          </a:p>
          <a:p>
            <a:r>
              <a:rPr sz="600"/>
              <a:t> </a:t>
            </a:r>
          </a:p>
          <a:p>
            <a:r>
              <a:rPr sz="1500" b="1">
                <a:solidFill>
                  <a:srgbClr val="1E2761"/>
                </a:solidFill>
              </a:rPr>
              <a:t>Monitor per-intent recall for the weakest-performing classes in production</a:t>
            </a:r>
          </a:p>
          <a:p>
            <a:r>
              <a:rPr sz="1100">
                <a:solidFill>
                  <a:srgbClr val="4B5468"/>
                </a:solidFill>
              </a:rPr>
              <a:t>Overall held-out test accuracy is real and strong (82.24% across 77 classes), but per-class performance is uneven by construction of a 77-class problem - track the bottom-decile intents (see the Known Limitations / worst-performing intents table) once in production. Target: Target: no individual intent's real production F1-score drifting more than 10 percentage points below its Gate 3 held-out test value without an alert.</a:t>
            </a:r>
          </a:p>
          <a:p>
            <a:r>
              <a:rPr sz="600"/>
              <a:t> </a:t>
            </a:r>
          </a:p>
          <a:p>
            <a:r>
              <a:rPr sz="1500" b="1">
                <a:solidFill>
                  <a:srgbClr val="1E2761"/>
                </a:solidFill>
              </a:rPr>
              <a:t>Expand grounded reason-code coverage beyond the current SHAP sample bound</a:t>
            </a:r>
          </a:p>
          <a:p>
            <a:r>
              <a:rPr sz="1100">
                <a:solidFill>
                  <a:srgbClr val="4B5468"/>
                </a:solidFill>
              </a:rPr>
              <a:t>Only 150 of 3,080 real decision records (4.9%) currently carry a grounded per-instance reason code, bounded by the 150-row SHAP sample size for laptop safety. Target: Target: 100% reason-code coverage once compute budget allows removing the sample bound, or a documented, deliberate sampling policy if full coverage is not pursued.</a:t>
            </a:r>
          </a:p>
          <a:p>
            <a:r>
              <a:rPr sz="60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Gate 6 — Governance &amp; Known Limitations (real)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• pytest suite: 52 passed / 0 failed</a:t>
            </a:r>
          </a:p>
          <a:p>
            <a:r>
              <a:rPr sz="1600">
                <a:solidFill>
                  <a:srgbClr val="FFFFFF"/>
                </a:solidFill>
              </a:rPr>
              <a:t>• Notebook syntax audit: 8/8 passed</a:t>
            </a:r>
          </a:p>
          <a:p>
            <a:r>
              <a:rPr sz="1600">
                <a:solidFill>
                  <a:srgbClr val="FFFFFF"/>
                </a:solidFill>
              </a:rPr>
              <a:t>• Open item: 1 near-random + 2 high-variance Gate 3 candidate anomaly(ies), not yet root-caused</a:t>
            </a:r>
          </a:p>
          <a:p>
            <a:r>
              <a:rPr sz="1600">
                <a:solidFill>
                  <a:srgbClr val="FFFFFF"/>
                </a:solidFill>
              </a:rPr>
              <a:t>• Model card: reports\bp1_customer_intent_classification\MODEL_CARD.md</a:t>
            </a:r>
          </a:p>
          <a:p>
            <a:r>
              <a:rPr sz="1600">
                <a:solidFill>
                  <a:srgbClr val="FFFFFF"/>
                </a:solidFill>
              </a:rPr>
              <a:t>• Changelog: reports\bp1_customer_intent_classification\CHANGELOG.md</a:t>
            </a:r>
          </a:p>
          <a:p>
            <a:r>
              <a:rPr sz="1600">
                <a:solidFill>
                  <a:srgbClr val="FFFFFF"/>
                </a:solidFill>
              </a:rPr>
              <a:t>• Gate 3 candidates evaluated: logistic_regression, random_forest, hist_gradient_boosting, xgboost, lightgbm, catboost</a:t>
            </a:r>
          </a:p>
          <a:p>
            <a:r>
              <a:rPr sz="1600">
                <a:solidFill>
                  <a:srgbClr val="FFFFFF"/>
                </a:solidFill>
              </a:rPr>
              <a:t>• BP1 governance gates complete: 6/6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998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Recommended for Production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RECOMMENDED FOR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• All 6 BP1 gates are real-run confirmed and every structural integrity check passed (pytest 52 passed / 0 failed, notebook syntax audit all passed). Tier 2 (CONDITIONAL - GOVERNANCE REVIEW REQUIRED) is structurally unreachable for BP1: this BP's real Gate 1-6 artifacts carry no ECOA/Reg B disparate-impact check (introduced starting with BP3), so BP1 cannot ever be flagged into Tier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